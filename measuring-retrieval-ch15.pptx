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queries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D0D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Effective Use
(genuinely grounded)</c:v>
                  </c:pt>
                  <c:pt idx="1">
                    <c:v>Lucky Guess
(right, no evidence)</c:v>
                  </c:pt>
                  <c:pt idx="2">
                    <c:v>Information Blindness
(found it, ignored it)</c:v>
                  </c:pt>
                  <c:pt idx="3">
                    <c:v>Correct Rejection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49.2</c:v>
                </c:pt>
                <c:pt idx="1">
                  <c:v>33.9</c:v>
                </c:pt>
                <c:pt idx="2">
                  <c:v>8.5</c:v>
                </c:pt>
                <c:pt idx="3">
                  <c:v>8.4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E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6202E"/>
                </a:solidFill>
                <a:latin typeface="Cambria"/>
              </a:rPr>
              <a:t>General capability is not measurement capability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 as a verifier</c:v>
                </c:pt>
              </c:strCache>
            </c:strRef>
          </c:tx>
          <c:spPr>
            <a:solidFill>
              <a:srgbClr val="1B2A4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D0D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Purpose-built verifier</c:v>
                  </c:pt>
                  <c:pt idx="1">
                    <c:v>Concat cross-encoder</c:v>
                  </c:pt>
                  <c:pt idx="2">
                    <c:v>GPT-4o as judge</c:v>
                  </c:pt>
                  <c:pt idx="3">
                    <c:v>DeBERTa mean-pooling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0.9075</c:v>
                </c:pt>
                <c:pt idx="1">
                  <c:v>0.8888</c:v>
                </c:pt>
                <c:pt idx="2">
                  <c:v>0.7284</c:v>
                </c:pt>
                <c:pt idx="3">
                  <c:v>0.6516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not a literature review. It is a decision aid. The single output is Chapter 15's eight-metric starter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failures, not the taxonomy. Each of these is measurable and most teams do not measure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four dimensions is discipline: if you cannot say which question a metric answers, you do not understand it well enough to report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It is the clearest single demonstration that a good-looking dashboard can hide a broken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takes one operational rule away, make it this one. It removes three dashboard lines and adds real diagnostic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tree is deliberately shallow. Two questions get you to a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plus two. The two context lines are what stop the eight from being gamed.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metrics is the hardest sell in the room. The argument is that correlated metrics create false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alpha, not kappa — you will have more than two raters and incomplete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Sequenced by cost and dependency, not importance. Nothing in Week 1 needs a metric definition or an annotation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gaps builds credibility and gives ambitious people somewhere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action. Do not close on the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206240" cy="4206240"/>
          </a:xfrm>
          <a:prstGeom prst="ellipse">
            <a:avLst/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69880" y="4114800"/>
            <a:ext cx="2011680" cy="20116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RETRIEVAL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eight metrics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actually tell you something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guide to IR and RAG evaluation — distilled from ~130 verified 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surveyed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97180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instrumenting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4892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303520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issued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DECK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 that should end a design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157276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never ships alone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3312" y="199339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scored 0.84 context adherence while 33.9% of its correct answers had no retrieved support. Three independent papers named this failure: Lucky Guess, Self-Knowledge, post-rationalization.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3312" y="305409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and utility can point opposite ways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3312" y="34747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groups found independently that highly relevant passages can interfere with reasoning, while tangential ones can help. Your relevance labels do not describe what the model needs.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53312" y="45354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generator may ignore your ranking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3312" y="495604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47-67% of queries, the generator ignored the retriever's top-ranked document. Measure this before spending a quarter improving nDCG.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RAG-X (arXiv:2603.03541) · GainRAG (ACL'25) &amp; The Power of Noise (SIGIR'24) · RAG-E (arXiv:2601.21803)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answers exactly one question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19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2768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right?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nDCG · faithfulness · claim recall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19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2768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my parts cooperate?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807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· WARG · eRAG · DIG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3F5F87"/>
          </a:solidFill>
          <a:ln w="12700">
            <a:solidFill>
              <a:srgbClr val="3F5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599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/ Drift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45171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right in six months?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5047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RBO · CKA · VersionQA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56789F"/>
          </a:solidFill>
          <a:ln w="12700">
            <a:solidFill>
              <a:srgbClr val="5678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0599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/ Cost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451713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being right cost?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50474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· tokens · TTFT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with one strong metric per dimension beats nine metrics from one dimension.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MEDICAL RAG, GuidelineQA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 accurate. 49% actually grounded.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03320" cy="3977640"/>
          </a:xfrm>
          <a:prstGeom prst="roundRect">
            <a:avLst>
              <a:gd name="adj" fmla="val 148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Adherence Paradox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3816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81381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adherence on the same pipeline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38160" y="37490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looked highly faithful while a third of its correct answers came from parametric memory.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measures whether the answer matches the context. It does not measure whether the context contained the answer.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Sivakumar, Sugumaran &amp; Qiang, RAG-X (arXiv:2603.03541). Note: the paper's 14% gap is Accuracy minus Context Hit Rate (71% - 57.6%), a different quantity.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DASHBOARD ERROR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published metrics. One measurement.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task performance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47288" y="164592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8105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30168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correct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64592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8105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37376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 confidence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61704" y="164592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584" y="18105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ΔSePer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244584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belief mass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ablate the passage and measure what changed.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10881360" cy="178308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41648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will correlate. Four agreeing lines on a dashboard look like corroboration and are one estimate wearing four hats.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on supervision and cost:   </a:t>
            </a:r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answers + offline → ΔSePer     ·     golden answers + CI → eRAG     ·     no golden answers → DIG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0292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the freed slots on the other three families: attribution (WARG), quadrant diagnosis (CUE), machine-utility ranking (UDCG).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eRAG SIGIR'24 · GainRAG ACL'25 · InfoGain-RAG EMNLP'25 · SePer ICLR'25 Spotlight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track are you on?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answers?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1984248"/>
            <a:ext cx="384048" cy="914"/>
          </a:xfrm>
          <a:prstGeom prst="line">
            <a:avLst/>
          </a:prstGeom>
          <a:noFill/>
          <a:ln w="22225">
            <a:solidFill>
              <a:srgbClr val="B7C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get you to a track.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 is a starting point, not 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— add from the other dimensions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basics are instrumented.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984248"/>
            <a:ext cx="914" cy="3282696"/>
          </a:xfrm>
          <a:prstGeom prst="line">
            <a:avLst/>
          </a:prstGeom>
          <a:noFill/>
          <a:ln w="22225">
            <a:solidFill>
              <a:srgbClr val="B7C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249424"/>
            <a:ext cx="283464" cy="914"/>
          </a:xfrm>
          <a:prstGeom prst="line">
            <a:avLst/>
          </a:prstGeom>
          <a:noFill/>
          <a:ln w="22225">
            <a:solidFill>
              <a:srgbClr val="B7C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600200"/>
            <a:ext cx="7818120" cy="1298448"/>
          </a:xfrm>
          <a:prstGeom prst="roundRect">
            <a:avLst>
              <a:gd name="adj" fmla="val 4225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728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2039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Reference-free track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40880" y="174650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 (3-metric)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or WARG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RBO vs frozen baseline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+ TTFT p95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3758184"/>
            <a:ext cx="283464" cy="914"/>
          </a:xfrm>
          <a:prstGeom prst="line">
            <a:avLst/>
          </a:prstGeom>
          <a:noFill/>
          <a:ln w="22225">
            <a:solidFill>
              <a:srgbClr val="B7C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3108960"/>
            <a:ext cx="7818120" cy="1298448"/>
          </a:xfrm>
          <a:prstGeom prst="roundRect">
            <a:avLst>
              <a:gd name="adj" fmla="val 4225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2369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4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ship citations?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5478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 track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040880" y="325526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RAGChecker: CR / SK / HL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ALCE citation precision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quadrants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query + EHR@k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01568" y="5266944"/>
            <a:ext cx="283464" cy="914"/>
          </a:xfrm>
          <a:prstGeom prst="line">
            <a:avLst/>
          </a:prstGeom>
          <a:noFill/>
          <a:ln w="22225">
            <a:solidFill>
              <a:srgbClr val="B7C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4617720"/>
            <a:ext cx="7818120" cy="1298448"/>
          </a:xfrm>
          <a:prstGeom prst="roundRect">
            <a:avLst>
              <a:gd name="adj" fmla="val 4225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7457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5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no citations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5056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track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40880" y="476402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(next slide)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claim count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RAG-on vs RAG-off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retrieval: Core track plus retrieval calls per answer and redundant-query rate — largely uninstrumented territory.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metrics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Recall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484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07008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on all downstream quality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642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30568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Self-Knowledge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0" y="1600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30568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Lucky Guess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07008" y="2798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and unsupported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560320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30568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 @ injected 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0568" y="27980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+ comparability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456432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7008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contribution metric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3392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3694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eRAG / DIG / ΔSePer — pick one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456432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30568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RBO vs frozen baseline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58400" y="3392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30568" y="36941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real drift metric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352544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07008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Redundancy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3484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waste, label-free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352544"/>
            <a:ext cx="402336" cy="402336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30568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TTFT p50 / p95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5840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 users feel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2303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394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non-negotiable context lines: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claim count per response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(else hallucination-rate gains are just brevity)   ·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RAG-on vs RAG-off accuracy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(else you don't know if retrieval earns its keep)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IMPORTANT, RARELY SAID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these off the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61872" y="17465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contribution metric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2167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eRAG, Gain, DIG, ΔSePer are one family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85432" y="17465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without Claim Recall beside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85432" y="2167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Adherence Paradox — three papers, enough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81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61872" y="3044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averaged composite “RAG score”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34655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cross-unit aggregation destroys the diagnosis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898648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3081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85432" y="3044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/ abandonment as quality measures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34655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absolute metrics tested in 2008; none reliable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3799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61872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at retrieval depth when you inject fewer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47640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the generator actually sees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197096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437997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85432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 similarity of retrieved chunks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5432" y="47640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signal, not a metric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click metrics remain useful for monitoring — did something break? They are not useful for deciding whether B beats 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NOBODY CALIBRATES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trust your LLM judge?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63 surveyed papers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LLMs as judges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their judge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human raters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429000" y="1691640"/>
          <a:ext cx="8092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429000" y="5120640"/>
            <a:ext cx="8092440" cy="1005840"/>
          </a:xfrm>
          <a:prstGeom prst="roundRect">
            <a:avLst>
              <a:gd name="adj" fmla="val 5455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526694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dated snapshot · freeze a 100-item human anchor set · re-run it on every judge change and record Krippendorff's α · never let one model both generate test data and judge it.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Brehme, Ströhle &amp; Breu, SDS'25 (arXiv:2504.20119) · verifier comparison from SURE-RAG (arXiv:2605.03534)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 rollout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7276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36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Instrumentation only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724912"/>
            <a:ext cx="221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baseline: 500 queries + top-k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judge snapshot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100-item human anchor set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 full index rebuild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your actual injected 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572768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57276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636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0168" y="22677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 diagnostics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48456" y="2724912"/>
            <a:ext cx="221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RAG-on vs RAG-off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test coverage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Redundancy at current k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vs bpref gap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position-bias 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572768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57276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3F5F87"/>
          </a:solidFill>
          <a:ln w="12700">
            <a:solidFill>
              <a:srgbClr val="3F5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636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7376" y="22677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k-sweep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724912"/>
            <a:ext cx="221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∈ {1,3,5,10,20,50}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recall, quality, redundancy,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tokens, TTFT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quality vs tokens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 at the knee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61704" y="1572768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1704" y="157276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56789F"/>
          </a:solidFill>
          <a:ln w="12700">
            <a:solidFill>
              <a:srgbClr val="5678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4584" y="16367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44584" y="22677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diagnostic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62872" y="2724912"/>
            <a:ext cx="22128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RAGChecker full nine, offline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quadrants on a sample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 once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50-question version-sensitive set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8338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contains no metrics at all. </a:t>
            </a:r>
            <a:pPr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highest-leverage work here — teams that skip it cannot answer “has this changed?” six months later, which forecloses the Integrity dimension permanently.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nobody has solved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 kill rate for RAG test suites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0" y="1719072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known corruptions — swap a date, negate a claim — and measure what fraction your eval catches. Unpublished. The clearest research gap.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89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drift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0" y="2889504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metric exists. Only the protocol on the previous slide.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59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evaluation of generated answers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4059936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interleave retrieved sources. You cannot interleave two generated answers — the user reads one 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111496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230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RAG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69280" y="5230368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is the right unit of analysis. Almost everything reports per-turn, which cannot see that turn 3 was needed because turns 1 and 2 failed.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existing work on the first gap: VersionRAG's implicit change detection, where baselines score 0-10%.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is not a reporting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activity. It is a design activity.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measures act as objective functions to be optimized. Whatever you measure, your system will be shaped toward. Whatever you fail to measure, it is free to sacrifice.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redundancy reached 22% in a production medical RAG pipeline in 2026. Not because anyone chose it — because nobody measured it, and the reranker optimized what it was scored 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2E4664"/>
          </a:solidFill>
          <a:ln w="12700">
            <a:solidFill>
              <a:srgbClr val="2E46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28523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instrumentation — freeze a baseline, pin the judge, time a rebuild, trace your injected k.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Then run RAG-on vs RAG-off. One afternoon, and it tells you whether any of the rest matters.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2026-08-25T06:40:22Z</dcterms:created>
  <dcterms:modified xsi:type="dcterms:W3CDTF">2026-08-25T06:40:22Z</dcterms:modified>
</cp:coreProperties>
</file>